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27" autoAdjust="0"/>
  </p:normalViewPr>
  <p:slideViewPr>
    <p:cSldViewPr snapToGrid="0">
      <p:cViewPr varScale="1">
        <p:scale>
          <a:sx n="74" d="100"/>
          <a:sy n="74" d="100"/>
        </p:scale>
        <p:origin x="101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8E14A6-42E0-49C9-BE79-E65844FCC048}" type="datetimeFigureOut">
              <a:rPr lang="en-IN" smtClean="0"/>
              <a:t>19-07-2026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626E36-CCDB-4A8D-8053-F50706EA0BC8}" type="slidenum">
              <a:rPr lang="en-IN" smtClean="0"/>
              <a:t>‹#›</a:t>
            </a:fld>
            <a:endParaRPr lang="en-IN"/>
          </a:p>
        </p:txBody>
      </p:sp>
    </p:spTree>
    <p:extLst>
      <p:ext uri="{BB962C8B-B14F-4D97-AF65-F5344CB8AC3E}">
        <p14:creationId xmlns:p14="http://schemas.microsoft.com/office/powerpoint/2010/main" val="2855228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panel. Today I am presenting a comprehensive, data-driven framework designed to solve a critical challenge for Sun Pharma: How do we objectively rank and prioritize over 600 diverse Indian districts to maximize commercial ROI across different therapy lines?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a:t>
            </a:fld>
            <a:endParaRPr lang="en-IN"/>
          </a:p>
        </p:txBody>
      </p:sp>
    </p:spTree>
    <p:extLst>
      <p:ext uri="{BB962C8B-B14F-4D97-AF65-F5344CB8AC3E}">
        <p14:creationId xmlns:p14="http://schemas.microsoft.com/office/powerpoint/2010/main" val="2746272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its core, this project bridges the gap between raw government datasets and corporate strategy. By using Principal Component Analysis, we’ve created a scoring system that tells us not just where the people are, but where the relevant purchasing power and disease burden intersect.</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2</a:t>
            </a:fld>
            <a:endParaRPr lang="en-IN"/>
          </a:p>
        </p:txBody>
      </p:sp>
    </p:spTree>
    <p:extLst>
      <p:ext uri="{BB962C8B-B14F-4D97-AF65-F5344CB8AC3E}">
        <p14:creationId xmlns:p14="http://schemas.microsoft.com/office/powerpoint/2010/main" val="1482827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are moving from reactive territory management to predictive market capitalization. If Sun Pharma is launching a new daily diabetes pill, this model tells us exactly which districts to target first.</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3</a:t>
            </a:fld>
            <a:endParaRPr lang="en-IN"/>
          </a:p>
        </p:txBody>
      </p:sp>
    </p:spTree>
    <p:extLst>
      <p:ext uri="{BB962C8B-B14F-4D97-AF65-F5344CB8AC3E}">
        <p14:creationId xmlns:p14="http://schemas.microsoft.com/office/powerpoint/2010/main" val="2433074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of the MAI as a financial credit score, but for pharmaceutical markets. It takes completely different units of measurement and synthesizes them into a single, undeniable metric of commercial readiness.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4</a:t>
            </a:fld>
            <a:endParaRPr lang="en-IN"/>
          </a:p>
        </p:txBody>
      </p:sp>
    </p:spTree>
    <p:extLst>
      <p:ext uri="{BB962C8B-B14F-4D97-AF65-F5344CB8AC3E}">
        <p14:creationId xmlns:p14="http://schemas.microsoft.com/office/powerpoint/2010/main" val="175253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Overall MAI is our macro-lens. If Sun Pharma wants to know the absolute strongest overarching markets in India, regardless of the specific drug, this index provides that 30,000-foot view.</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5</a:t>
            </a:fld>
            <a:endParaRPr lang="en-IN"/>
          </a:p>
        </p:txBody>
      </p:sp>
    </p:spTree>
    <p:extLst>
      <p:ext uri="{BB962C8B-B14F-4D97-AF65-F5344CB8AC3E}">
        <p14:creationId xmlns:p14="http://schemas.microsoft.com/office/powerpoint/2010/main" val="4057672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Chronic therapies require patients who can afford to buy medication every month for life. Therefore, this index aggressively weighs district wealth and specific epidemiological data over sheer population volume.</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6</a:t>
            </a:fld>
            <a:endParaRPr lang="en-IN"/>
          </a:p>
        </p:txBody>
      </p:sp>
    </p:spTree>
    <p:extLst>
      <p:ext uri="{BB962C8B-B14F-4D97-AF65-F5344CB8AC3E}">
        <p14:creationId xmlns:p14="http://schemas.microsoft.com/office/powerpoint/2010/main" val="279073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Acute therapies are a numbers game. You don't need a high GDP to sell an antibiotic; you need a large population and high foot traffic in local clinics.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7</a:t>
            </a:fld>
            <a:endParaRPr lang="en-IN"/>
          </a:p>
        </p:txBody>
      </p:sp>
    </p:spTree>
    <p:extLst>
      <p:ext uri="{BB962C8B-B14F-4D97-AF65-F5344CB8AC3E}">
        <p14:creationId xmlns:p14="http://schemas.microsoft.com/office/powerpoint/2010/main" val="3674341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included economic indicators because in India, a significant portion of healthcare spending is out-of-pocket. GDP serves as a proxy for a district's ability to absorb premium, branded generics.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8</a:t>
            </a:fld>
            <a:endParaRPr lang="en-IN"/>
          </a:p>
        </p:txBody>
      </p:sp>
    </p:spTree>
    <p:extLst>
      <p:ext uri="{BB962C8B-B14F-4D97-AF65-F5344CB8AC3E}">
        <p14:creationId xmlns:p14="http://schemas.microsoft.com/office/powerpoint/2010/main" val="145688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Infrastructure is the bottleneck of pharma sales. We mapped facility density to ensure our model doesn't recommend a district where patients have no physical access to doctors.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9</a:t>
            </a:fld>
            <a:endParaRPr lang="en-IN"/>
          </a:p>
        </p:txBody>
      </p:sp>
    </p:spTree>
    <p:extLst>
      <p:ext uri="{BB962C8B-B14F-4D97-AF65-F5344CB8AC3E}">
        <p14:creationId xmlns:p14="http://schemas.microsoft.com/office/powerpoint/2010/main" val="1211629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the model gets highly specific. We utilized gender-segmented health data to understand the exact underlying disease burden, allowing for hyper-targeted product launches.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10</a:t>
            </a:fld>
            <a:endParaRPr lang="en-IN"/>
          </a:p>
        </p:txBody>
      </p:sp>
    </p:spTree>
    <p:extLst>
      <p:ext uri="{BB962C8B-B14F-4D97-AF65-F5344CB8AC3E}">
        <p14:creationId xmlns:p14="http://schemas.microsoft.com/office/powerpoint/2010/main" val="1199802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separating these variables, we proved that the best market for an antibiotic is rarely the best market for a premium heart medication. The drivers are fundamentally different.</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11</a:t>
            </a:fld>
            <a:endParaRPr lang="en-IN"/>
          </a:p>
        </p:txBody>
      </p:sp>
    </p:spTree>
    <p:extLst>
      <p:ext uri="{BB962C8B-B14F-4D97-AF65-F5344CB8AC3E}">
        <p14:creationId xmlns:p14="http://schemas.microsoft.com/office/powerpoint/2010/main" val="2042506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methodology strictly adheres to data engineering best practices. We built a scalable Pandas pipeline that seamlessly joins disparate demographic and health tables based on district codes.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12</a:t>
            </a:fld>
            <a:endParaRPr lang="en-IN"/>
          </a:p>
        </p:txBody>
      </p:sp>
    </p:spTree>
    <p:extLst>
      <p:ext uri="{BB962C8B-B14F-4D97-AF65-F5344CB8AC3E}">
        <p14:creationId xmlns:p14="http://schemas.microsoft.com/office/powerpoint/2010/main" val="959835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Missing data can break a machine learning model. Instead of deleting rows and losing valuable districts, we used median imputation to safely preserve the statistical integrity of the dataset.</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13</a:t>
            </a:fld>
            <a:endParaRPr lang="en-IN"/>
          </a:p>
        </p:txBody>
      </p:sp>
    </p:spTree>
    <p:extLst>
      <p:ext uri="{BB962C8B-B14F-4D97-AF65-F5344CB8AC3E}">
        <p14:creationId xmlns:p14="http://schemas.microsoft.com/office/powerpoint/2010/main" val="2515873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Without Z-score scaling, our algorithm would only look at GDP because the numbers are so large. Scaling ensures a 5% increase in diabetes is treated just as importantly as a massive GDP.</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14</a:t>
            </a:fld>
            <a:endParaRPr lang="en-IN"/>
          </a:p>
        </p:txBody>
      </p:sp>
    </p:spTree>
    <p:extLst>
      <p:ext uri="{BB962C8B-B14F-4D97-AF65-F5344CB8AC3E}">
        <p14:creationId xmlns:p14="http://schemas.microsoft.com/office/powerpoint/2010/main" val="2819085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PCA is the engine of our framework. It mathematically finds the hidden relationships between wealth, infrastructure, and health, compressing them down into the single, powerful MAI score you see on the dashboard.</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15</a:t>
            </a:fld>
            <a:endParaRPr lang="en-IN"/>
          </a:p>
        </p:txBody>
      </p:sp>
    </p:spTree>
    <p:extLst>
      <p:ext uri="{BB962C8B-B14F-4D97-AF65-F5344CB8AC3E}">
        <p14:creationId xmlns:p14="http://schemas.microsoft.com/office/powerpoint/2010/main" val="347744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didn't just build a model for 2026; we built a predictive framework. By incorporating demographic shifts, we can tell executives where to establish a foothold before competitors do.</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16</a:t>
            </a:fld>
            <a:endParaRPr lang="en-IN"/>
          </a:p>
        </p:txBody>
      </p:sp>
    </p:spTree>
    <p:extLst>
      <p:ext uri="{BB962C8B-B14F-4D97-AF65-F5344CB8AC3E}">
        <p14:creationId xmlns:p14="http://schemas.microsoft.com/office/powerpoint/2010/main" val="1181438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Power BI dashboard translates our complex PCA math into immediate action. The Top 10 bar chart gives regional directors exactly what they need: a clear, prioritized list of where to focus their teams.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17</a:t>
            </a:fld>
            <a:endParaRPr lang="en-IN"/>
          </a:p>
        </p:txBody>
      </p:sp>
    </p:spTree>
    <p:extLst>
      <p:ext uri="{BB962C8B-B14F-4D97-AF65-F5344CB8AC3E}">
        <p14:creationId xmlns:p14="http://schemas.microsoft.com/office/powerpoint/2010/main" val="2877153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map visual instantly answers the 'where'. It highlights that high-value markets aren't scattered randomly; they cluster around specific economic corridors, guiding our logistics strategy.</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18</a:t>
            </a:fld>
            <a:endParaRPr lang="en-IN"/>
          </a:p>
        </p:txBody>
      </p:sp>
    </p:spTree>
    <p:extLst>
      <p:ext uri="{BB962C8B-B14F-4D97-AF65-F5344CB8AC3E}">
        <p14:creationId xmlns:p14="http://schemas.microsoft.com/office/powerpoint/2010/main" val="2288472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Therapy Matrix is our most powerful strategic visual. By plotting Acute against Chronic, we immediately spot which districts demand a dual-portfolio approach versus those that only require basic antibiotic distribution.</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19</a:t>
            </a:fld>
            <a:endParaRPr lang="en-IN"/>
          </a:p>
        </p:txBody>
      </p:sp>
    </p:spTree>
    <p:extLst>
      <p:ext uri="{BB962C8B-B14F-4D97-AF65-F5344CB8AC3E}">
        <p14:creationId xmlns:p14="http://schemas.microsoft.com/office/powerpoint/2010/main" val="1317418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view ensures balanced investment. We can protect our massive legacy markets while aggressively funding expansion into smaller districts that our algorithm identifies as high-growth.</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20</a:t>
            </a:fld>
            <a:endParaRPr lang="en-IN"/>
          </a:p>
        </p:txBody>
      </p:sp>
    </p:spTree>
    <p:extLst>
      <p:ext uri="{BB962C8B-B14F-4D97-AF65-F5344CB8AC3E}">
        <p14:creationId xmlns:p14="http://schemas.microsoft.com/office/powerpoint/2010/main" val="40076429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this framework, territory planning is no longer guesswork. We can hold sales teams accountable to mathematically derived KPIs based on the true potential of their assigned district.</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21</a:t>
            </a:fld>
            <a:endParaRPr lang="en-IN"/>
          </a:p>
        </p:txBody>
      </p:sp>
    </p:spTree>
    <p:extLst>
      <p:ext uri="{BB962C8B-B14F-4D97-AF65-F5344CB8AC3E}">
        <p14:creationId xmlns:p14="http://schemas.microsoft.com/office/powerpoint/2010/main" val="1102436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ensures we are putting the right talent in the right place. An expensive Key Account Manager should not be deployed to an Acute-heavy market; their skills are best utilized in high-Chronic districts.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22</a:t>
            </a:fld>
            <a:endParaRPr lang="en-IN"/>
          </a:p>
        </p:txBody>
      </p:sp>
    </p:spTree>
    <p:extLst>
      <p:ext uri="{BB962C8B-B14F-4D97-AF65-F5344CB8AC3E}">
        <p14:creationId xmlns:p14="http://schemas.microsoft.com/office/powerpoint/2010/main" val="3383683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beauty of this framework is its modularity. If Sun Pharma wants to evaluate South Africa next year, we simply plug the South African census into our Python script, and the model instantly recalculates the strategy.</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23</a:t>
            </a:fld>
            <a:endParaRPr lang="en-IN"/>
          </a:p>
        </p:txBody>
      </p:sp>
    </p:spTree>
    <p:extLst>
      <p:ext uri="{BB962C8B-B14F-4D97-AF65-F5344CB8AC3E}">
        <p14:creationId xmlns:p14="http://schemas.microsoft.com/office/powerpoint/2010/main" val="603732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the MAI is not just an analytics project; it is a commercial engine. We are ready to integrate these insights directly into the sales CRM. Thank you for your time, I am happy to take any questions.</a:t>
            </a:r>
            <a:endParaRPr lang="en-IN"/>
          </a:p>
        </p:txBody>
      </p:sp>
      <p:sp>
        <p:nvSpPr>
          <p:cNvPr id="4" name="Slide Number Placeholder 3"/>
          <p:cNvSpPr>
            <a:spLocks noGrp="1"/>
          </p:cNvSpPr>
          <p:nvPr>
            <p:ph type="sldNum" sz="quarter" idx="5"/>
          </p:nvPr>
        </p:nvSpPr>
        <p:spPr/>
        <p:txBody>
          <a:bodyPr/>
          <a:lstStyle/>
          <a:p>
            <a:fld id="{5C626E36-CCDB-4A8D-8053-F50706EA0BC8}" type="slidenum">
              <a:rPr lang="en-IN" smtClean="0"/>
              <a:t>24</a:t>
            </a:fld>
            <a:endParaRPr lang="en-IN"/>
          </a:p>
        </p:txBody>
      </p:sp>
    </p:spTree>
    <p:extLst>
      <p:ext uri="{BB962C8B-B14F-4D97-AF65-F5344CB8AC3E}">
        <p14:creationId xmlns:p14="http://schemas.microsoft.com/office/powerpoint/2010/main" val="3001278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D98B36-4C7F-4F70-A5CE-13C36745122F}"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6A19351-8EFC-46C9-B109-8BAC2327DFED}" type="slidenum">
              <a:rPr lang="en-IN" smtClean="0"/>
              <a:t>‹#›</a:t>
            </a:fld>
            <a:endParaRPr lang="en-IN"/>
          </a:p>
        </p:txBody>
      </p:sp>
    </p:spTree>
    <p:extLst>
      <p:ext uri="{BB962C8B-B14F-4D97-AF65-F5344CB8AC3E}">
        <p14:creationId xmlns:p14="http://schemas.microsoft.com/office/powerpoint/2010/main" val="3287338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2F15D5-9868-45D6-8805-C91F793DF663}"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1750355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2F15D5-9868-45D6-8805-C91F793DF663}"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205846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2F15D5-9868-45D6-8805-C91F793DF663}"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2590327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2F15D5-9868-45D6-8805-C91F793DF663}" type="datetimeFigureOut">
              <a:rPr lang="en-IN" smtClean="0"/>
              <a:t>19-07-2026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1829121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2F15D5-9868-45D6-8805-C91F793DF663}" type="datetimeFigureOut">
              <a:rPr lang="en-IN" smtClean="0"/>
              <a:t>19-07-2026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3525090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F15D5-9868-45D6-8805-C91F793DF663}" type="datetimeFigureOut">
              <a:rPr lang="en-IN" smtClean="0"/>
              <a:t>19-07-2026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23947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2F15D5-9868-45D6-8805-C91F793DF663}"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1595125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2F15D5-9868-45D6-8805-C91F793DF663}"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4241322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2F15D5-9868-45D6-8805-C91F793DF663}"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4160279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2F15D5-9868-45D6-8805-C91F793DF663}"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8FBF228-5D0A-43E5-B084-107F938D88C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58023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42F15D5-9868-45D6-8805-C91F793DF663}"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189940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42F15D5-9868-45D6-8805-C91F793DF663}"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8FBF228-5D0A-43E5-B084-107F938D88C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33144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42F15D5-9868-45D6-8805-C91F793DF663}"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3377317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2F15D5-9868-45D6-8805-C91F793DF663}"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195704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2F15D5-9868-45D6-8805-C91F793DF663}"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8FBF228-5D0A-43E5-B084-107F938D88CF}" type="slidenum">
              <a:rPr lang="en-IN" smtClean="0"/>
              <a:t>‹#›</a:t>
            </a:fld>
            <a:endParaRPr lang="en-IN"/>
          </a:p>
        </p:txBody>
      </p:sp>
    </p:spTree>
    <p:extLst>
      <p:ext uri="{BB962C8B-B14F-4D97-AF65-F5344CB8AC3E}">
        <p14:creationId xmlns:p14="http://schemas.microsoft.com/office/powerpoint/2010/main" val="1541172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B1D50-589B-3A39-E5AF-954F3E28BA2B}"/>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353FC8-8D4C-0512-4AB1-1FD0FA2A44AC}"/>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310285-9790-2034-C46C-E3EC19B84C05}"/>
              </a:ext>
            </a:extLst>
          </p:cNvPr>
          <p:cNvSpPr>
            <a:spLocks noGrp="1"/>
          </p:cNvSpPr>
          <p:nvPr>
            <p:ph type="dt" sz="half" idx="10"/>
          </p:nvPr>
        </p:nvSpPr>
        <p:spPr/>
        <p:txBody>
          <a:bodyPr/>
          <a:lstStyle/>
          <a:p>
            <a:fld id="{76D98B36-4C7F-4F70-A5CE-13C36745122F}" type="datetimeFigureOut">
              <a:rPr lang="en-IN" smtClean="0"/>
              <a:t>19-07-2026</a:t>
            </a:fld>
            <a:endParaRPr lang="en-IN"/>
          </a:p>
        </p:txBody>
      </p:sp>
      <p:sp>
        <p:nvSpPr>
          <p:cNvPr id="5" name="Footer Placeholder 4">
            <a:extLst>
              <a:ext uri="{FF2B5EF4-FFF2-40B4-BE49-F238E27FC236}">
                <a16:creationId xmlns:a16="http://schemas.microsoft.com/office/drawing/2014/main" id="{C7F42FED-C959-4A22-F1EE-B105432238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11FADF-53D8-A5AB-44EF-5639C2F01419}"/>
              </a:ext>
            </a:extLst>
          </p:cNvPr>
          <p:cNvSpPr>
            <a:spLocks noGrp="1"/>
          </p:cNvSpPr>
          <p:nvPr>
            <p:ph type="sldNum" sz="quarter" idx="12"/>
          </p:nvPr>
        </p:nvSpPr>
        <p:spPr/>
        <p:txBody>
          <a:bodyPr/>
          <a:lstStyle/>
          <a:p>
            <a:fld id="{B6A19351-8EFC-46C9-B109-8BAC2327DFED}" type="slidenum">
              <a:rPr lang="en-IN" smtClean="0"/>
              <a:t>‹#›</a:t>
            </a:fld>
            <a:endParaRPr lang="en-IN"/>
          </a:p>
        </p:txBody>
      </p:sp>
    </p:spTree>
    <p:extLst>
      <p:ext uri="{BB962C8B-B14F-4D97-AF65-F5344CB8AC3E}">
        <p14:creationId xmlns:p14="http://schemas.microsoft.com/office/powerpoint/2010/main" val="849274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42F15D5-9868-45D6-8805-C91F793DF663}" type="datetimeFigureOut">
              <a:rPr lang="en-IN" smtClean="0"/>
              <a:t>19-07-2026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8FBF228-5D0A-43E5-B084-107F938D88CF}" type="slidenum">
              <a:rPr lang="en-IN" smtClean="0"/>
              <a:t>‹#›</a:t>
            </a:fld>
            <a:endParaRPr lang="en-IN"/>
          </a:p>
        </p:txBody>
      </p:sp>
    </p:spTree>
    <p:extLst>
      <p:ext uri="{BB962C8B-B14F-4D97-AF65-F5344CB8AC3E}">
        <p14:creationId xmlns:p14="http://schemas.microsoft.com/office/powerpoint/2010/main" val="1807648018"/>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6EC17-E4D3-762C-4EC0-374628632226}"/>
              </a:ext>
            </a:extLst>
          </p:cNvPr>
          <p:cNvSpPr>
            <a:spLocks noGrp="1"/>
          </p:cNvSpPr>
          <p:nvPr>
            <p:ph type="ctrTitle"/>
          </p:nvPr>
        </p:nvSpPr>
        <p:spPr/>
        <p:txBody>
          <a:bodyPr>
            <a:normAutofit/>
          </a:bodyPr>
          <a:lstStyle/>
          <a:p>
            <a:r>
              <a:rPr lang="en-US"/>
              <a:t>District-Level Market Attractiveness Index (MAI)</a:t>
            </a:r>
            <a:endParaRPr lang="en-IN"/>
          </a:p>
        </p:txBody>
      </p:sp>
      <p:sp>
        <p:nvSpPr>
          <p:cNvPr id="3" name="Subtitle 2">
            <a:extLst>
              <a:ext uri="{FF2B5EF4-FFF2-40B4-BE49-F238E27FC236}">
                <a16:creationId xmlns:a16="http://schemas.microsoft.com/office/drawing/2014/main" id="{F7797D18-7658-E2EB-39CE-145B2268A697}"/>
              </a:ext>
            </a:extLst>
          </p:cNvPr>
          <p:cNvSpPr>
            <a:spLocks noGrp="1"/>
          </p:cNvSpPr>
          <p:nvPr>
            <p:ph type="subTitle" idx="1"/>
          </p:nvPr>
        </p:nvSpPr>
        <p:spPr>
          <a:xfrm>
            <a:off x="1477588" y="4887883"/>
            <a:ext cx="7891272" cy="1069848"/>
          </a:xfrm>
        </p:spPr>
        <p:txBody>
          <a:bodyPr>
            <a:normAutofit fontScale="85000" lnSpcReduction="10000"/>
          </a:bodyPr>
          <a:lstStyle/>
          <a:p>
            <a:r>
              <a:rPr lang="en-US" dirty="0"/>
              <a:t>A Machine Learning Framework for Optimizing Pharmaceutical Resource Allocation</a:t>
            </a:r>
          </a:p>
          <a:p>
            <a:r>
              <a:rPr lang="en-US" dirty="0"/>
              <a:t>Strategic Expansion and Territory Planning in India</a:t>
            </a:r>
          </a:p>
          <a:p>
            <a:r>
              <a:rPr lang="en-US" dirty="0"/>
              <a:t>Prepared for Sun Pharma Evaluation Panel</a:t>
            </a:r>
            <a:endParaRPr lang="en-IN" dirty="0"/>
          </a:p>
        </p:txBody>
      </p:sp>
    </p:spTree>
    <p:extLst>
      <p:ext uri="{BB962C8B-B14F-4D97-AF65-F5344CB8AC3E}">
        <p14:creationId xmlns:p14="http://schemas.microsoft.com/office/powerpoint/2010/main" val="591647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09F9-036C-10FA-ED71-84DA563AFA68}"/>
              </a:ext>
            </a:extLst>
          </p:cNvPr>
          <p:cNvSpPr>
            <a:spLocks noGrp="1"/>
          </p:cNvSpPr>
          <p:nvPr>
            <p:ph type="title"/>
          </p:nvPr>
        </p:nvSpPr>
        <p:spPr/>
        <p:txBody>
          <a:bodyPr/>
          <a:lstStyle/>
          <a:p>
            <a:r>
              <a:rPr lang="en-IN"/>
              <a:t>Executive Summary</a:t>
            </a:r>
          </a:p>
        </p:txBody>
      </p:sp>
      <p:sp>
        <p:nvSpPr>
          <p:cNvPr id="3" name="Text Placeholder 2">
            <a:extLst>
              <a:ext uri="{FF2B5EF4-FFF2-40B4-BE49-F238E27FC236}">
                <a16:creationId xmlns:a16="http://schemas.microsoft.com/office/drawing/2014/main" id="{EEDDA613-FC44-8663-9D7D-750BAF40F887}"/>
              </a:ext>
            </a:extLst>
          </p:cNvPr>
          <p:cNvSpPr>
            <a:spLocks noGrp="1"/>
          </p:cNvSpPr>
          <p:nvPr>
            <p:ph type="body" idx="1"/>
          </p:nvPr>
        </p:nvSpPr>
        <p:spPr/>
        <p:txBody>
          <a:bodyPr/>
          <a:lstStyle/>
          <a:p>
            <a:r>
              <a:rPr lang="en-US"/>
              <a:t>The Challenge: India’s immense socio-economic diversity makes relying on historical sales insufficient for growth.</a:t>
            </a:r>
          </a:p>
          <a:p>
            <a:r>
              <a:rPr lang="en-US"/>
              <a:t>The Solution: An algorithmic Market Attractiveness Index (MAI) utilizing a robust Machine Learning data pipeline.</a:t>
            </a:r>
          </a:p>
          <a:p>
            <a:r>
              <a:rPr lang="en-US"/>
              <a:t>The Output: Three distinct indices (Overall, Chronic, Acute) guiding highly targeted, therapy-specific deployment.</a:t>
            </a:r>
            <a:endParaRPr lang="en-IN"/>
          </a:p>
        </p:txBody>
      </p:sp>
    </p:spTree>
    <p:extLst>
      <p:ext uri="{BB962C8B-B14F-4D97-AF65-F5344CB8AC3E}">
        <p14:creationId xmlns:p14="http://schemas.microsoft.com/office/powerpoint/2010/main" val="2104462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A3439-D724-45E0-9F10-F3458C77B71E}"/>
              </a:ext>
            </a:extLst>
          </p:cNvPr>
          <p:cNvSpPr>
            <a:spLocks noGrp="1"/>
          </p:cNvSpPr>
          <p:nvPr>
            <p:ph type="title"/>
          </p:nvPr>
        </p:nvSpPr>
        <p:spPr/>
        <p:txBody>
          <a:bodyPr>
            <a:normAutofit/>
          </a:bodyPr>
          <a:lstStyle/>
          <a:p>
            <a:r>
              <a:rPr lang="en-IN"/>
              <a:t>Business Objectives &amp; Strategic Imperatives</a:t>
            </a:r>
          </a:p>
        </p:txBody>
      </p:sp>
      <p:sp>
        <p:nvSpPr>
          <p:cNvPr id="3" name="Text Placeholder 2">
            <a:extLst>
              <a:ext uri="{FF2B5EF4-FFF2-40B4-BE49-F238E27FC236}">
                <a16:creationId xmlns:a16="http://schemas.microsoft.com/office/drawing/2014/main" id="{D3789BDB-D437-888C-71BD-8D730DE3DB0C}"/>
              </a:ext>
            </a:extLst>
          </p:cNvPr>
          <p:cNvSpPr>
            <a:spLocks noGrp="1"/>
          </p:cNvSpPr>
          <p:nvPr>
            <p:ph type="body" idx="1"/>
          </p:nvPr>
        </p:nvSpPr>
        <p:spPr/>
        <p:txBody>
          <a:bodyPr/>
          <a:lstStyle/>
          <a:p>
            <a:r>
              <a:rPr lang="en-IN"/>
              <a:t>Precision Resource Allocation: Optimize Medical Representative (MR) deployment based on mathematical viability.</a:t>
            </a:r>
          </a:p>
          <a:p>
            <a:r>
              <a:rPr lang="en-IN"/>
              <a:t>Segmented Therapy Strategy: Decouple sales strategies for Acute (volume) and Chronic (value) drug portfolios.</a:t>
            </a:r>
          </a:p>
          <a:p>
            <a:r>
              <a:rPr lang="en-IN"/>
              <a:t>Predictive Opportunity: Identify 'hidden gem' districts with rising economic and epidemiological trends.</a:t>
            </a:r>
          </a:p>
        </p:txBody>
      </p:sp>
    </p:spTree>
    <p:extLst>
      <p:ext uri="{BB962C8B-B14F-4D97-AF65-F5344CB8AC3E}">
        <p14:creationId xmlns:p14="http://schemas.microsoft.com/office/powerpoint/2010/main" val="1879355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95924-F9F4-0991-6C80-5C9D719B13C3}"/>
              </a:ext>
            </a:extLst>
          </p:cNvPr>
          <p:cNvSpPr>
            <a:spLocks noGrp="1"/>
          </p:cNvSpPr>
          <p:nvPr>
            <p:ph type="title"/>
          </p:nvPr>
        </p:nvSpPr>
        <p:spPr/>
        <p:txBody>
          <a:bodyPr>
            <a:normAutofit/>
          </a:bodyPr>
          <a:lstStyle/>
          <a:p>
            <a:r>
              <a:rPr lang="en-IN"/>
              <a:t>Market Attractiveness Index (MAI) – Core Definition</a:t>
            </a:r>
          </a:p>
        </p:txBody>
      </p:sp>
      <p:sp>
        <p:nvSpPr>
          <p:cNvPr id="3" name="Text Placeholder 2">
            <a:extLst>
              <a:ext uri="{FF2B5EF4-FFF2-40B4-BE49-F238E27FC236}">
                <a16:creationId xmlns:a16="http://schemas.microsoft.com/office/drawing/2014/main" id="{84A7610F-1C35-51D6-EE34-F2952ECCB483}"/>
              </a:ext>
            </a:extLst>
          </p:cNvPr>
          <p:cNvSpPr>
            <a:spLocks noGrp="1"/>
          </p:cNvSpPr>
          <p:nvPr>
            <p:ph type="body" idx="1"/>
          </p:nvPr>
        </p:nvSpPr>
        <p:spPr/>
        <p:txBody>
          <a:bodyPr/>
          <a:lstStyle/>
          <a:p>
            <a:r>
              <a:rPr lang="en-US"/>
              <a:t>A composite, standardized score (0 to 100) quantifying the commercial potential of a district.</a:t>
            </a:r>
          </a:p>
          <a:p>
            <a:r>
              <a:rPr lang="en-US"/>
              <a:t>Normalizes disparate metrics (GDP vs. Disease Prevalence) into a unified business score.</a:t>
            </a:r>
          </a:p>
          <a:p>
            <a:r>
              <a:rPr lang="en-US"/>
              <a:t>Drives investment prioritization: Score 95 = Tier-1 priority; Score 35 = Lean distribution approach.</a:t>
            </a:r>
            <a:endParaRPr lang="en-IN"/>
          </a:p>
        </p:txBody>
      </p:sp>
    </p:spTree>
    <p:extLst>
      <p:ext uri="{BB962C8B-B14F-4D97-AF65-F5344CB8AC3E}">
        <p14:creationId xmlns:p14="http://schemas.microsoft.com/office/powerpoint/2010/main" val="1414666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828D2-F6D9-B965-5928-AC5EF8E9C3D2}"/>
              </a:ext>
            </a:extLst>
          </p:cNvPr>
          <p:cNvSpPr>
            <a:spLocks noGrp="1"/>
          </p:cNvSpPr>
          <p:nvPr>
            <p:ph type="title"/>
          </p:nvPr>
        </p:nvSpPr>
        <p:spPr/>
        <p:txBody>
          <a:bodyPr/>
          <a:lstStyle/>
          <a:p>
            <a:r>
              <a:rPr lang="en-IN"/>
              <a:t>1. Overall Pharmaceutical MAI</a:t>
            </a:r>
          </a:p>
        </p:txBody>
      </p:sp>
      <p:sp>
        <p:nvSpPr>
          <p:cNvPr id="3" name="Text Placeholder 2">
            <a:extLst>
              <a:ext uri="{FF2B5EF4-FFF2-40B4-BE49-F238E27FC236}">
                <a16:creationId xmlns:a16="http://schemas.microsoft.com/office/drawing/2014/main" id="{4F571D68-6C26-4141-D985-4247A00DFFC8}"/>
              </a:ext>
            </a:extLst>
          </p:cNvPr>
          <p:cNvSpPr>
            <a:spLocks noGrp="1"/>
          </p:cNvSpPr>
          <p:nvPr>
            <p:ph type="body" idx="1"/>
          </p:nvPr>
        </p:nvSpPr>
        <p:spPr/>
        <p:txBody>
          <a:bodyPr/>
          <a:lstStyle/>
          <a:p>
            <a:r>
              <a:rPr lang="en-US"/>
              <a:t>Represents a holistic, blended view of a district's total healthcare capacity and wealth.</a:t>
            </a:r>
          </a:p>
          <a:p>
            <a:r>
              <a:rPr lang="en-US"/>
              <a:t>Captures both short-term volume potential and long-term value potential.</a:t>
            </a:r>
          </a:p>
          <a:p>
            <a:r>
              <a:rPr lang="en-US"/>
              <a:t>Used for broad footprint planning and determining regional distribution hubs (C&amp;F agents).</a:t>
            </a:r>
            <a:endParaRPr lang="en-IN"/>
          </a:p>
        </p:txBody>
      </p:sp>
    </p:spTree>
    <p:extLst>
      <p:ext uri="{BB962C8B-B14F-4D97-AF65-F5344CB8AC3E}">
        <p14:creationId xmlns:p14="http://schemas.microsoft.com/office/powerpoint/2010/main" val="2408169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3778-5E7C-A9D9-6012-36C0F1C0AAA8}"/>
              </a:ext>
            </a:extLst>
          </p:cNvPr>
          <p:cNvSpPr>
            <a:spLocks noGrp="1"/>
          </p:cNvSpPr>
          <p:nvPr>
            <p:ph type="title"/>
          </p:nvPr>
        </p:nvSpPr>
        <p:spPr/>
        <p:txBody>
          <a:bodyPr/>
          <a:lstStyle/>
          <a:p>
            <a:r>
              <a:rPr lang="en-IN"/>
              <a:t>2. Chronic Therapy MAI</a:t>
            </a:r>
          </a:p>
        </p:txBody>
      </p:sp>
      <p:sp>
        <p:nvSpPr>
          <p:cNvPr id="3" name="Text Placeholder 2">
            <a:extLst>
              <a:ext uri="{FF2B5EF4-FFF2-40B4-BE49-F238E27FC236}">
                <a16:creationId xmlns:a16="http://schemas.microsoft.com/office/drawing/2014/main" id="{79151D61-61C9-B066-34D2-FF11B4E59E4F}"/>
              </a:ext>
            </a:extLst>
          </p:cNvPr>
          <p:cNvSpPr>
            <a:spLocks noGrp="1"/>
          </p:cNvSpPr>
          <p:nvPr>
            <p:ph type="body" idx="1"/>
          </p:nvPr>
        </p:nvSpPr>
        <p:spPr/>
        <p:txBody>
          <a:bodyPr/>
          <a:lstStyle/>
          <a:p>
            <a:r>
              <a:rPr lang="en-US"/>
              <a:t>Targets commercial viability for daily, recurring medications (cardiovascular, anti-diabetic).</a:t>
            </a:r>
          </a:p>
          <a:p>
            <a:r>
              <a:rPr lang="en-US"/>
              <a:t>Heavily dependent on Purchasing Power (GDP), Specialized Infrastructure, and Lifestyle Disease indicators.</a:t>
            </a:r>
          </a:p>
          <a:p>
            <a:r>
              <a:rPr lang="en-US"/>
              <a:t>Guides deployment of highly specialized senior MRs to wealthy, urbanized districts.</a:t>
            </a:r>
            <a:endParaRPr lang="en-IN"/>
          </a:p>
        </p:txBody>
      </p:sp>
    </p:spTree>
    <p:extLst>
      <p:ext uri="{BB962C8B-B14F-4D97-AF65-F5344CB8AC3E}">
        <p14:creationId xmlns:p14="http://schemas.microsoft.com/office/powerpoint/2010/main" val="3112298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152B-4D12-9F13-CE64-CADBBD9AC51B}"/>
              </a:ext>
            </a:extLst>
          </p:cNvPr>
          <p:cNvSpPr>
            <a:spLocks noGrp="1"/>
          </p:cNvSpPr>
          <p:nvPr>
            <p:ph type="title"/>
          </p:nvPr>
        </p:nvSpPr>
        <p:spPr/>
        <p:txBody>
          <a:bodyPr/>
          <a:lstStyle/>
          <a:p>
            <a:r>
              <a:rPr lang="en-IN"/>
              <a:t>3. Acute Therapy MAI</a:t>
            </a:r>
          </a:p>
        </p:txBody>
      </p:sp>
      <p:sp>
        <p:nvSpPr>
          <p:cNvPr id="3" name="Text Placeholder 2">
            <a:extLst>
              <a:ext uri="{FF2B5EF4-FFF2-40B4-BE49-F238E27FC236}">
                <a16:creationId xmlns:a16="http://schemas.microsoft.com/office/drawing/2014/main" id="{925899FB-8B6B-1CCA-035C-2EA06CFF37FE}"/>
              </a:ext>
            </a:extLst>
          </p:cNvPr>
          <p:cNvSpPr>
            <a:spLocks noGrp="1"/>
          </p:cNvSpPr>
          <p:nvPr>
            <p:ph type="body" idx="1"/>
          </p:nvPr>
        </p:nvSpPr>
        <p:spPr/>
        <p:txBody>
          <a:bodyPr/>
          <a:lstStyle/>
          <a:p>
            <a:r>
              <a:rPr lang="en-US"/>
              <a:t>Maximizes volume, reach, and immediate care for short-term medications (antibiotics, pain management).</a:t>
            </a:r>
          </a:p>
          <a:p>
            <a:r>
              <a:rPr lang="en-US"/>
              <a:t>Relies on total population mass, younger demographics, and basic healthcare facility volume.</a:t>
            </a:r>
          </a:p>
          <a:p>
            <a:r>
              <a:rPr lang="en-US"/>
              <a:t>Guides mass-market distribution strategies focusing on pharmacies and general physicians.</a:t>
            </a:r>
            <a:endParaRPr lang="en-IN"/>
          </a:p>
        </p:txBody>
      </p:sp>
    </p:spTree>
    <p:extLst>
      <p:ext uri="{BB962C8B-B14F-4D97-AF65-F5344CB8AC3E}">
        <p14:creationId xmlns:p14="http://schemas.microsoft.com/office/powerpoint/2010/main" val="3302208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C9033-EC96-1295-5CCE-5D3C2DEFC935}"/>
              </a:ext>
            </a:extLst>
          </p:cNvPr>
          <p:cNvSpPr>
            <a:spLocks noGrp="1"/>
          </p:cNvSpPr>
          <p:nvPr>
            <p:ph type="title"/>
          </p:nvPr>
        </p:nvSpPr>
        <p:spPr/>
        <p:txBody>
          <a:bodyPr>
            <a:normAutofit/>
          </a:bodyPr>
          <a:lstStyle/>
          <a:p>
            <a:r>
              <a:rPr lang="en-IN"/>
              <a:t>Variable Selection: Economic Indicators</a:t>
            </a:r>
          </a:p>
        </p:txBody>
      </p:sp>
      <p:sp>
        <p:nvSpPr>
          <p:cNvPr id="3" name="Text Placeholder 2">
            <a:extLst>
              <a:ext uri="{FF2B5EF4-FFF2-40B4-BE49-F238E27FC236}">
                <a16:creationId xmlns:a16="http://schemas.microsoft.com/office/drawing/2014/main" id="{E08A1387-F54F-D1B6-16E9-7FC4946EC7DC}"/>
              </a:ext>
            </a:extLst>
          </p:cNvPr>
          <p:cNvSpPr>
            <a:spLocks noGrp="1"/>
          </p:cNvSpPr>
          <p:nvPr>
            <p:ph type="body" idx="1"/>
          </p:nvPr>
        </p:nvSpPr>
        <p:spPr/>
        <p:txBody>
          <a:bodyPr/>
          <a:lstStyle/>
          <a:p>
            <a:r>
              <a:rPr lang="en-US"/>
              <a:t>Average GDP &amp; Per Capita Wealth: Direct indicators of out-of-pocket healthcare purchasing power.</a:t>
            </a:r>
          </a:p>
          <a:p>
            <a:r>
              <a:rPr lang="en-US"/>
              <a:t>Literacy Rates: Correlates strongly with health awareness and proactive medical seeking behavior.</a:t>
            </a:r>
          </a:p>
          <a:p>
            <a:r>
              <a:rPr lang="en-US"/>
              <a:t>Rationale: Wealthier districts can sustain high-margin chronic portfolios.</a:t>
            </a:r>
            <a:endParaRPr lang="en-IN"/>
          </a:p>
        </p:txBody>
      </p:sp>
    </p:spTree>
    <p:extLst>
      <p:ext uri="{BB962C8B-B14F-4D97-AF65-F5344CB8AC3E}">
        <p14:creationId xmlns:p14="http://schemas.microsoft.com/office/powerpoint/2010/main" val="425311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97E6-FDC5-BA2F-004F-47C7B36F786B}"/>
              </a:ext>
            </a:extLst>
          </p:cNvPr>
          <p:cNvSpPr>
            <a:spLocks noGrp="1"/>
          </p:cNvSpPr>
          <p:nvPr>
            <p:ph type="title"/>
          </p:nvPr>
        </p:nvSpPr>
        <p:spPr/>
        <p:txBody>
          <a:bodyPr>
            <a:normAutofit/>
          </a:bodyPr>
          <a:lstStyle/>
          <a:p>
            <a:r>
              <a:rPr lang="en-IN"/>
              <a:t>Variable Selection: Infrastructure Readiness</a:t>
            </a:r>
          </a:p>
        </p:txBody>
      </p:sp>
      <p:sp>
        <p:nvSpPr>
          <p:cNvPr id="3" name="Text Placeholder 2">
            <a:extLst>
              <a:ext uri="{FF2B5EF4-FFF2-40B4-BE49-F238E27FC236}">
                <a16:creationId xmlns:a16="http://schemas.microsoft.com/office/drawing/2014/main" id="{231A11A1-AEE8-6DE6-C9E4-648D8291972A}"/>
              </a:ext>
            </a:extLst>
          </p:cNvPr>
          <p:cNvSpPr>
            <a:spLocks noGrp="1"/>
          </p:cNvSpPr>
          <p:nvPr>
            <p:ph type="body" idx="1"/>
          </p:nvPr>
        </p:nvSpPr>
        <p:spPr/>
        <p:txBody>
          <a:bodyPr/>
          <a:lstStyle/>
          <a:p>
            <a:r>
              <a:rPr lang="en-US"/>
              <a:t>Total Healthcare Facilities: Measures the physical capacity for diagnosis and prescription.</a:t>
            </a:r>
          </a:p>
          <a:p>
            <a:r>
              <a:rPr lang="en-US"/>
              <a:t>Public vs. Private Ratios: Indicates the level of premium healthcare access.</a:t>
            </a:r>
          </a:p>
          <a:p>
            <a:r>
              <a:rPr lang="en-US"/>
              <a:t>Rationale: You cannot sell specialized drugs if the district lacks the clinics to prescribe them.</a:t>
            </a:r>
            <a:endParaRPr lang="en-IN"/>
          </a:p>
        </p:txBody>
      </p:sp>
    </p:spTree>
    <p:extLst>
      <p:ext uri="{BB962C8B-B14F-4D97-AF65-F5344CB8AC3E}">
        <p14:creationId xmlns:p14="http://schemas.microsoft.com/office/powerpoint/2010/main" val="2892519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5E29C-B5BE-2B01-B7CA-30BEA96973E5}"/>
              </a:ext>
            </a:extLst>
          </p:cNvPr>
          <p:cNvSpPr>
            <a:spLocks noGrp="1"/>
          </p:cNvSpPr>
          <p:nvPr>
            <p:ph type="title"/>
          </p:nvPr>
        </p:nvSpPr>
        <p:spPr/>
        <p:txBody>
          <a:bodyPr>
            <a:normAutofit/>
          </a:bodyPr>
          <a:lstStyle/>
          <a:p>
            <a:r>
              <a:rPr lang="en-IN"/>
              <a:t>Variable Selection: Epidemiological Data</a:t>
            </a:r>
          </a:p>
        </p:txBody>
      </p:sp>
      <p:sp>
        <p:nvSpPr>
          <p:cNvPr id="3" name="Text Placeholder 2">
            <a:extLst>
              <a:ext uri="{FF2B5EF4-FFF2-40B4-BE49-F238E27FC236}">
                <a16:creationId xmlns:a16="http://schemas.microsoft.com/office/drawing/2014/main" id="{89BBFF13-96E0-29E1-4802-2B5AAD247078}"/>
              </a:ext>
            </a:extLst>
          </p:cNvPr>
          <p:cNvSpPr>
            <a:spLocks noGrp="1"/>
          </p:cNvSpPr>
          <p:nvPr>
            <p:ph type="body" idx="1"/>
          </p:nvPr>
        </p:nvSpPr>
        <p:spPr/>
        <p:txBody>
          <a:bodyPr/>
          <a:lstStyle/>
          <a:p>
            <a:r>
              <a:rPr lang="en-IN"/>
              <a:t>Blood Sugar &amp; Blood Pressure Levels: Directly maps to anti-diabetic and cardiovascular portfolios.</a:t>
            </a:r>
          </a:p>
          <a:p>
            <a:r>
              <a:rPr lang="en-IN"/>
              <a:t>Tobacco Use &amp; Age Demographics: Predicts respiratory and generalized acute illness patterns.</a:t>
            </a:r>
          </a:p>
          <a:p>
            <a:r>
              <a:rPr lang="en-IN"/>
              <a:t>Rationale: Replaces 'gut feeling' with verified public health statistics.</a:t>
            </a:r>
          </a:p>
        </p:txBody>
      </p:sp>
    </p:spTree>
    <p:extLst>
      <p:ext uri="{BB962C8B-B14F-4D97-AF65-F5344CB8AC3E}">
        <p14:creationId xmlns:p14="http://schemas.microsoft.com/office/powerpoint/2010/main" val="3195803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D271-9F3D-F651-1001-5DDCC71675E5}"/>
              </a:ext>
            </a:extLst>
          </p:cNvPr>
          <p:cNvSpPr>
            <a:spLocks noGrp="1"/>
          </p:cNvSpPr>
          <p:nvPr>
            <p:ph type="title"/>
          </p:nvPr>
        </p:nvSpPr>
        <p:spPr/>
        <p:txBody>
          <a:bodyPr>
            <a:normAutofit/>
          </a:bodyPr>
          <a:lstStyle/>
          <a:p>
            <a:r>
              <a:rPr lang="en-US"/>
              <a:t>Contrasting Drivers: Acute vs. Chronic</a:t>
            </a:r>
            <a:endParaRPr lang="en-IN"/>
          </a:p>
        </p:txBody>
      </p:sp>
      <p:sp>
        <p:nvSpPr>
          <p:cNvPr id="3" name="Text Placeholder 2">
            <a:extLst>
              <a:ext uri="{FF2B5EF4-FFF2-40B4-BE49-F238E27FC236}">
                <a16:creationId xmlns:a16="http://schemas.microsoft.com/office/drawing/2014/main" id="{B2967FAC-1384-ED48-015B-393EFDA33D57}"/>
              </a:ext>
            </a:extLst>
          </p:cNvPr>
          <p:cNvSpPr>
            <a:spLocks noGrp="1"/>
          </p:cNvSpPr>
          <p:nvPr>
            <p:ph type="body" idx="1"/>
          </p:nvPr>
        </p:nvSpPr>
        <p:spPr/>
        <p:txBody>
          <a:bodyPr/>
          <a:lstStyle/>
          <a:p>
            <a:r>
              <a:rPr lang="en-IN"/>
              <a:t>Chronic Drivers: High GDP, High Literacy, High Hypertension rates, Aging population.</a:t>
            </a:r>
          </a:p>
          <a:p>
            <a:r>
              <a:rPr lang="en-IN"/>
              <a:t>Acute Drivers: Total Population density, High clinic counts, Younger demographics.</a:t>
            </a:r>
          </a:p>
          <a:p>
            <a:r>
              <a:rPr lang="en-IN"/>
              <a:t>Business Impact: Prevents misallocating expensive resources into low-yield territories.</a:t>
            </a:r>
          </a:p>
        </p:txBody>
      </p:sp>
    </p:spTree>
    <p:extLst>
      <p:ext uri="{BB962C8B-B14F-4D97-AF65-F5344CB8AC3E}">
        <p14:creationId xmlns:p14="http://schemas.microsoft.com/office/powerpoint/2010/main" val="2737544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3A9B-5E43-9EDD-B16A-F4FBEB6FCC12}"/>
              </a:ext>
            </a:extLst>
          </p:cNvPr>
          <p:cNvSpPr>
            <a:spLocks noGrp="1"/>
          </p:cNvSpPr>
          <p:nvPr>
            <p:ph type="title"/>
          </p:nvPr>
        </p:nvSpPr>
        <p:spPr/>
        <p:txBody>
          <a:bodyPr>
            <a:normAutofit/>
          </a:bodyPr>
          <a:lstStyle/>
          <a:p>
            <a:r>
              <a:rPr lang="en-IN"/>
              <a:t>Methodology: Data Pipeline &amp; Preparation</a:t>
            </a:r>
          </a:p>
        </p:txBody>
      </p:sp>
      <p:sp>
        <p:nvSpPr>
          <p:cNvPr id="3" name="Text Placeholder 2">
            <a:extLst>
              <a:ext uri="{FF2B5EF4-FFF2-40B4-BE49-F238E27FC236}">
                <a16:creationId xmlns:a16="http://schemas.microsoft.com/office/drawing/2014/main" id="{B6059CA0-5B82-9D58-462D-B268F263E518}"/>
              </a:ext>
            </a:extLst>
          </p:cNvPr>
          <p:cNvSpPr>
            <a:spLocks noGrp="1"/>
          </p:cNvSpPr>
          <p:nvPr>
            <p:ph type="body" idx="1"/>
          </p:nvPr>
        </p:nvSpPr>
        <p:spPr/>
        <p:txBody>
          <a:bodyPr/>
          <a:lstStyle/>
          <a:p>
            <a:r>
              <a:rPr lang="en-US"/>
              <a:t>Data Sourcing: Aggregated from verified government health and economic repositories.</a:t>
            </a:r>
          </a:p>
          <a:p>
            <a:r>
              <a:rPr lang="en-US"/>
              <a:t>Data Engineering: Merged distinct regional datasets using Python (Pandas).</a:t>
            </a:r>
          </a:p>
          <a:p>
            <a:r>
              <a:rPr lang="en-US"/>
              <a:t>Transformation: Engineered new features to represent per-capita ratios rather than raw counts.</a:t>
            </a:r>
            <a:endParaRPr lang="en-IN"/>
          </a:p>
        </p:txBody>
      </p:sp>
    </p:spTree>
    <p:extLst>
      <p:ext uri="{BB962C8B-B14F-4D97-AF65-F5344CB8AC3E}">
        <p14:creationId xmlns:p14="http://schemas.microsoft.com/office/powerpoint/2010/main" val="3279990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0797-0B61-3ABC-BF93-297113234818}"/>
              </a:ext>
            </a:extLst>
          </p:cNvPr>
          <p:cNvSpPr>
            <a:spLocks noGrp="1"/>
          </p:cNvSpPr>
          <p:nvPr>
            <p:ph type="title"/>
          </p:nvPr>
        </p:nvSpPr>
        <p:spPr/>
        <p:txBody>
          <a:bodyPr>
            <a:normAutofit/>
          </a:bodyPr>
          <a:lstStyle/>
          <a:p>
            <a:r>
              <a:rPr lang="en-IN"/>
              <a:t>Methodology: Handling Missing Data</a:t>
            </a:r>
          </a:p>
        </p:txBody>
      </p:sp>
      <p:sp>
        <p:nvSpPr>
          <p:cNvPr id="3" name="Text Placeholder 2">
            <a:extLst>
              <a:ext uri="{FF2B5EF4-FFF2-40B4-BE49-F238E27FC236}">
                <a16:creationId xmlns:a16="http://schemas.microsoft.com/office/drawing/2014/main" id="{D5134A89-9852-8A65-38A5-38A4E64D0E41}"/>
              </a:ext>
            </a:extLst>
          </p:cNvPr>
          <p:cNvSpPr>
            <a:spLocks noGrp="1"/>
          </p:cNvSpPr>
          <p:nvPr>
            <p:ph type="body" idx="1"/>
          </p:nvPr>
        </p:nvSpPr>
        <p:spPr/>
        <p:txBody>
          <a:bodyPr/>
          <a:lstStyle/>
          <a:p>
            <a:r>
              <a:rPr lang="en-US"/>
              <a:t>Challenge: Real-world government data contains gaps and null values.</a:t>
            </a:r>
          </a:p>
          <a:p>
            <a:r>
              <a:rPr lang="en-US"/>
              <a:t>Solution: Implemented SimpleImputer using Median Imputation.</a:t>
            </a:r>
          </a:p>
          <a:p>
            <a:r>
              <a:rPr lang="en-US"/>
              <a:t>Why Median?: Prevents statistical skewing caused by extreme outliers in wealth or population.</a:t>
            </a:r>
            <a:endParaRPr lang="en-IN"/>
          </a:p>
        </p:txBody>
      </p:sp>
    </p:spTree>
    <p:extLst>
      <p:ext uri="{BB962C8B-B14F-4D97-AF65-F5344CB8AC3E}">
        <p14:creationId xmlns:p14="http://schemas.microsoft.com/office/powerpoint/2010/main" val="2692451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F99AC-A3DE-7794-BE6E-C0DB99EAA9D2}"/>
              </a:ext>
            </a:extLst>
          </p:cNvPr>
          <p:cNvSpPr>
            <a:spLocks noGrp="1"/>
          </p:cNvSpPr>
          <p:nvPr>
            <p:ph type="title"/>
          </p:nvPr>
        </p:nvSpPr>
        <p:spPr/>
        <p:txBody>
          <a:bodyPr>
            <a:normAutofit/>
          </a:bodyPr>
          <a:lstStyle/>
          <a:p>
            <a:r>
              <a:rPr lang="en-IN"/>
              <a:t>Methodology: Normalization Strategy</a:t>
            </a:r>
          </a:p>
        </p:txBody>
      </p:sp>
      <p:sp>
        <p:nvSpPr>
          <p:cNvPr id="3" name="Text Placeholder 2">
            <a:extLst>
              <a:ext uri="{FF2B5EF4-FFF2-40B4-BE49-F238E27FC236}">
                <a16:creationId xmlns:a16="http://schemas.microsoft.com/office/drawing/2014/main" id="{6C7008C6-6B90-709C-E014-47D74EABB308}"/>
              </a:ext>
            </a:extLst>
          </p:cNvPr>
          <p:cNvSpPr>
            <a:spLocks noGrp="1"/>
          </p:cNvSpPr>
          <p:nvPr>
            <p:ph type="body" idx="1"/>
          </p:nvPr>
        </p:nvSpPr>
        <p:spPr/>
        <p:txBody>
          <a:bodyPr/>
          <a:lstStyle/>
          <a:p>
            <a:r>
              <a:rPr lang="en-US"/>
              <a:t>The Issue: Comparing GDP (billions) with disease prevalence (percentages) creates scale imbalances.</a:t>
            </a:r>
          </a:p>
          <a:p>
            <a:r>
              <a:rPr lang="en-US"/>
              <a:t>The Fix: Applied StandardScaler (Z-score normalization).</a:t>
            </a:r>
          </a:p>
          <a:p>
            <a:r>
              <a:rPr lang="en-US"/>
              <a:t>The Result: Every variable is converted to a standard scale, allowing the algorithm to weight them fairly.</a:t>
            </a:r>
            <a:endParaRPr lang="en-IN"/>
          </a:p>
        </p:txBody>
      </p:sp>
    </p:spTree>
    <p:extLst>
      <p:ext uri="{BB962C8B-B14F-4D97-AF65-F5344CB8AC3E}">
        <p14:creationId xmlns:p14="http://schemas.microsoft.com/office/powerpoint/2010/main" val="3432116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82EC3-8E51-E7E6-2614-FEBA8599EA40}"/>
              </a:ext>
            </a:extLst>
          </p:cNvPr>
          <p:cNvSpPr>
            <a:spLocks noGrp="1"/>
          </p:cNvSpPr>
          <p:nvPr>
            <p:ph type="title"/>
          </p:nvPr>
        </p:nvSpPr>
        <p:spPr/>
        <p:txBody>
          <a:bodyPr>
            <a:normAutofit/>
          </a:bodyPr>
          <a:lstStyle/>
          <a:p>
            <a:r>
              <a:rPr lang="en-IN"/>
              <a:t>Methodology: Index Construction (PCA)</a:t>
            </a:r>
          </a:p>
        </p:txBody>
      </p:sp>
      <p:sp>
        <p:nvSpPr>
          <p:cNvPr id="3" name="Text Placeholder 2">
            <a:extLst>
              <a:ext uri="{FF2B5EF4-FFF2-40B4-BE49-F238E27FC236}">
                <a16:creationId xmlns:a16="http://schemas.microsoft.com/office/drawing/2014/main" id="{5EA13173-36A9-3D21-48DA-E788F5675C8E}"/>
              </a:ext>
            </a:extLst>
          </p:cNvPr>
          <p:cNvSpPr>
            <a:spLocks noGrp="1"/>
          </p:cNvSpPr>
          <p:nvPr>
            <p:ph type="body" idx="1"/>
          </p:nvPr>
        </p:nvSpPr>
        <p:spPr/>
        <p:txBody>
          <a:bodyPr/>
          <a:lstStyle/>
          <a:p>
            <a:r>
              <a:rPr lang="en-US"/>
              <a:t>Algorithm Used: Principal Component Analysis (PCA).</a:t>
            </a:r>
          </a:p>
          <a:p>
            <a:r>
              <a:rPr lang="en-US"/>
              <a:t>Process: Extracted the 1st Principal Component to capture maximum variance across all variables.</a:t>
            </a:r>
          </a:p>
          <a:p>
            <a:r>
              <a:rPr lang="en-US"/>
              <a:t>Final Output: Used MinMaxScaler to convert the complex PCA outputs into a clean 0-100 business score.</a:t>
            </a:r>
            <a:endParaRPr lang="en-IN"/>
          </a:p>
        </p:txBody>
      </p:sp>
    </p:spTree>
    <p:extLst>
      <p:ext uri="{BB962C8B-B14F-4D97-AF65-F5344CB8AC3E}">
        <p14:creationId xmlns:p14="http://schemas.microsoft.com/office/powerpoint/2010/main" val="2847508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3A5C-031E-85EA-554D-E62C9F14C02C}"/>
              </a:ext>
            </a:extLst>
          </p:cNvPr>
          <p:cNvSpPr>
            <a:spLocks noGrp="1"/>
          </p:cNvSpPr>
          <p:nvPr>
            <p:ph type="title"/>
          </p:nvPr>
        </p:nvSpPr>
        <p:spPr/>
        <p:txBody>
          <a:bodyPr>
            <a:normAutofit/>
          </a:bodyPr>
          <a:lstStyle/>
          <a:p>
            <a:r>
              <a:rPr lang="en-IN"/>
              <a:t>Methodology: Future Demand Modeling</a:t>
            </a:r>
          </a:p>
        </p:txBody>
      </p:sp>
      <p:sp>
        <p:nvSpPr>
          <p:cNvPr id="3" name="Text Placeholder 2">
            <a:extLst>
              <a:ext uri="{FF2B5EF4-FFF2-40B4-BE49-F238E27FC236}">
                <a16:creationId xmlns:a16="http://schemas.microsoft.com/office/drawing/2014/main" id="{BF315359-A945-288A-6FF9-D10EDFA7BBF6}"/>
              </a:ext>
            </a:extLst>
          </p:cNvPr>
          <p:cNvSpPr>
            <a:spLocks noGrp="1"/>
          </p:cNvSpPr>
          <p:nvPr>
            <p:ph type="body" idx="1"/>
          </p:nvPr>
        </p:nvSpPr>
        <p:spPr/>
        <p:txBody>
          <a:bodyPr/>
          <a:lstStyle/>
          <a:p>
            <a:r>
              <a:rPr lang="en-US"/>
              <a:t>Population Scaling: Factored in birth rates and age bracket shifts.</a:t>
            </a:r>
          </a:p>
          <a:p>
            <a:r>
              <a:rPr lang="en-US"/>
              <a:t>Economic Trajectory: Analyzed wealth growth to predict future purchasing power.</a:t>
            </a:r>
          </a:p>
          <a:p>
            <a:r>
              <a:rPr lang="en-US"/>
              <a:t>Predictive Output: Highlights which districts will age into chronic disease hubs over the next 5 years.</a:t>
            </a:r>
            <a:endParaRPr lang="en-IN"/>
          </a:p>
        </p:txBody>
      </p:sp>
    </p:spTree>
    <p:extLst>
      <p:ext uri="{BB962C8B-B14F-4D97-AF65-F5344CB8AC3E}">
        <p14:creationId xmlns:p14="http://schemas.microsoft.com/office/powerpoint/2010/main" val="4163890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95C4D-DF76-D4BF-FC05-9918797E1711}"/>
              </a:ext>
            </a:extLst>
          </p:cNvPr>
          <p:cNvSpPr>
            <a:spLocks noGrp="1"/>
          </p:cNvSpPr>
          <p:nvPr>
            <p:ph type="title"/>
          </p:nvPr>
        </p:nvSpPr>
        <p:spPr/>
        <p:txBody>
          <a:bodyPr/>
          <a:lstStyle/>
          <a:p>
            <a:r>
              <a:rPr lang="en-IN" dirty="0"/>
              <a:t>Visual Insights: District Rankings</a:t>
            </a:r>
          </a:p>
        </p:txBody>
      </p:sp>
      <p:sp>
        <p:nvSpPr>
          <p:cNvPr id="3" name="Text Placeholder 2">
            <a:extLst>
              <a:ext uri="{FF2B5EF4-FFF2-40B4-BE49-F238E27FC236}">
                <a16:creationId xmlns:a16="http://schemas.microsoft.com/office/drawing/2014/main" id="{B628F5A9-1E8D-1719-1F63-FE353088B832}"/>
              </a:ext>
            </a:extLst>
          </p:cNvPr>
          <p:cNvSpPr>
            <a:spLocks noGrp="1"/>
          </p:cNvSpPr>
          <p:nvPr>
            <p:ph type="body" idx="1"/>
          </p:nvPr>
        </p:nvSpPr>
        <p:spPr>
          <a:xfrm>
            <a:off x="913984" y="1601863"/>
            <a:ext cx="10058400" cy="1101437"/>
          </a:xfrm>
        </p:spPr>
        <p:txBody>
          <a:bodyPr>
            <a:normAutofit/>
          </a:bodyPr>
          <a:lstStyle/>
          <a:p>
            <a:r>
              <a:rPr lang="en-US" sz="1600" dirty="0"/>
              <a:t>Format: Top 10 Clustered Bar Chart for immediate priority targeting.</a:t>
            </a:r>
          </a:p>
          <a:p>
            <a:r>
              <a:rPr lang="en-US" sz="1600" dirty="0"/>
              <a:t>Executive Value: Provides a definitive, rank-ordered 'Hit List' for regional sales directors.</a:t>
            </a:r>
          </a:p>
          <a:p>
            <a:r>
              <a:rPr lang="en-US" sz="1600" dirty="0"/>
              <a:t>Action: Immediate deployment of senior resources to top decile districts.</a:t>
            </a:r>
            <a:endParaRPr lang="en-IN" sz="1600" dirty="0"/>
          </a:p>
        </p:txBody>
      </p:sp>
      <p:pic>
        <p:nvPicPr>
          <p:cNvPr id="5" name="Picture 4">
            <a:extLst>
              <a:ext uri="{FF2B5EF4-FFF2-40B4-BE49-F238E27FC236}">
                <a16:creationId xmlns:a16="http://schemas.microsoft.com/office/drawing/2014/main" id="{D4000865-4389-0EFB-3A0F-DE09E9C99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0242" y="2882753"/>
            <a:ext cx="7917873" cy="3930574"/>
          </a:xfrm>
          <a:prstGeom prst="rect">
            <a:avLst/>
          </a:prstGeom>
          <a:pattFill prst="pct5">
            <a:fgClr>
              <a:schemeClr val="accent1"/>
            </a:fgClr>
            <a:bgClr>
              <a:schemeClr val="bg1"/>
            </a:bgClr>
          </a:pattFill>
          <a:ln>
            <a:noFill/>
          </a:ln>
        </p:spPr>
      </p:pic>
    </p:spTree>
    <p:extLst>
      <p:ext uri="{BB962C8B-B14F-4D97-AF65-F5344CB8AC3E}">
        <p14:creationId xmlns:p14="http://schemas.microsoft.com/office/powerpoint/2010/main" val="2427731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D2E8-5CA1-1F9E-D6FD-1FDE1FB44200}"/>
              </a:ext>
            </a:extLst>
          </p:cNvPr>
          <p:cNvSpPr>
            <a:spLocks noGrp="1"/>
          </p:cNvSpPr>
          <p:nvPr>
            <p:ph type="title"/>
          </p:nvPr>
        </p:nvSpPr>
        <p:spPr/>
        <p:txBody>
          <a:bodyPr>
            <a:normAutofit/>
          </a:bodyPr>
          <a:lstStyle/>
          <a:p>
            <a:r>
              <a:rPr lang="en-IN"/>
              <a:t>Visual Insights: Geographic Concentration</a:t>
            </a:r>
          </a:p>
        </p:txBody>
      </p:sp>
      <p:sp>
        <p:nvSpPr>
          <p:cNvPr id="3" name="Text Placeholder 2">
            <a:extLst>
              <a:ext uri="{FF2B5EF4-FFF2-40B4-BE49-F238E27FC236}">
                <a16:creationId xmlns:a16="http://schemas.microsoft.com/office/drawing/2014/main" id="{59D3B99B-9268-393D-0B49-F6D71AEF3C8A}"/>
              </a:ext>
            </a:extLst>
          </p:cNvPr>
          <p:cNvSpPr>
            <a:spLocks noGrp="1"/>
          </p:cNvSpPr>
          <p:nvPr>
            <p:ph type="body" idx="1"/>
          </p:nvPr>
        </p:nvSpPr>
        <p:spPr>
          <a:xfrm>
            <a:off x="1066800" y="2257163"/>
            <a:ext cx="10058400" cy="1058210"/>
          </a:xfrm>
        </p:spPr>
        <p:txBody>
          <a:bodyPr>
            <a:normAutofit lnSpcReduction="10000"/>
          </a:bodyPr>
          <a:lstStyle/>
          <a:p>
            <a:r>
              <a:rPr lang="en-US" sz="1600" dirty="0"/>
              <a:t>Format: Geographic Bubble Heatmap across the Indian subcontinent.</a:t>
            </a:r>
          </a:p>
          <a:p>
            <a:r>
              <a:rPr lang="en-US" sz="1600" dirty="0"/>
              <a:t>Executive Value: Identifies spatial clusters and supply chain hubs.</a:t>
            </a:r>
          </a:p>
          <a:p>
            <a:r>
              <a:rPr lang="en-US" sz="1600" dirty="0"/>
              <a:t>Action: Optimizes logistics and regional warehousing based on high-density MAI scores.</a:t>
            </a:r>
            <a:endParaRPr lang="en-IN" sz="1600" dirty="0"/>
          </a:p>
        </p:txBody>
      </p:sp>
      <p:pic>
        <p:nvPicPr>
          <p:cNvPr id="7" name="Picture 6">
            <a:extLst>
              <a:ext uri="{FF2B5EF4-FFF2-40B4-BE49-F238E27FC236}">
                <a16:creationId xmlns:a16="http://schemas.microsoft.com/office/drawing/2014/main" id="{DB25462A-779D-D1E4-F297-594EF4CE32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2925" y="3429000"/>
            <a:ext cx="8057758" cy="3379439"/>
          </a:xfrm>
          <a:prstGeom prst="rect">
            <a:avLst/>
          </a:prstGeom>
        </p:spPr>
      </p:pic>
    </p:spTree>
    <p:extLst>
      <p:ext uri="{BB962C8B-B14F-4D97-AF65-F5344CB8AC3E}">
        <p14:creationId xmlns:p14="http://schemas.microsoft.com/office/powerpoint/2010/main" val="2657900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9479-1946-8D5B-C200-B0DE8727A469}"/>
              </a:ext>
            </a:extLst>
          </p:cNvPr>
          <p:cNvSpPr>
            <a:spLocks noGrp="1"/>
          </p:cNvSpPr>
          <p:nvPr>
            <p:ph type="title"/>
          </p:nvPr>
        </p:nvSpPr>
        <p:spPr/>
        <p:txBody>
          <a:bodyPr>
            <a:normAutofit/>
          </a:bodyPr>
          <a:lstStyle/>
          <a:p>
            <a:r>
              <a:rPr lang="en-US"/>
              <a:t>Visual Insights: The Therapy Matrix</a:t>
            </a:r>
            <a:endParaRPr lang="en-IN"/>
          </a:p>
        </p:txBody>
      </p:sp>
      <p:sp>
        <p:nvSpPr>
          <p:cNvPr id="3" name="Text Placeholder 2">
            <a:extLst>
              <a:ext uri="{FF2B5EF4-FFF2-40B4-BE49-F238E27FC236}">
                <a16:creationId xmlns:a16="http://schemas.microsoft.com/office/drawing/2014/main" id="{9497F21E-9663-3EA9-377E-5E5AC63E683C}"/>
              </a:ext>
            </a:extLst>
          </p:cNvPr>
          <p:cNvSpPr>
            <a:spLocks noGrp="1"/>
          </p:cNvSpPr>
          <p:nvPr>
            <p:ph type="body" idx="1"/>
          </p:nvPr>
        </p:nvSpPr>
        <p:spPr>
          <a:xfrm>
            <a:off x="1066800" y="1732252"/>
            <a:ext cx="10058400" cy="1027037"/>
          </a:xfrm>
        </p:spPr>
        <p:txBody>
          <a:bodyPr>
            <a:normAutofit fontScale="92500" lnSpcReduction="10000"/>
          </a:bodyPr>
          <a:lstStyle/>
          <a:p>
            <a:r>
              <a:rPr lang="en-IN" sz="1600" dirty="0"/>
              <a:t>Format: Scatter Plot comparing Acute (X-axis) vs. Chronic (Y-axis) MAI scores.</a:t>
            </a:r>
          </a:p>
          <a:p>
            <a:r>
              <a:rPr lang="en-IN" sz="1600" dirty="0"/>
              <a:t>Executive Value: Creates a four-quadrant matrix classifying district typologies.</a:t>
            </a:r>
          </a:p>
          <a:p>
            <a:r>
              <a:rPr lang="en-IN" sz="1600" dirty="0"/>
              <a:t>Action: Identifies 'Gold Mine' districts scoring high in both, vs. niche single-therapy markets.</a:t>
            </a:r>
          </a:p>
        </p:txBody>
      </p:sp>
      <p:pic>
        <p:nvPicPr>
          <p:cNvPr id="5" name="Picture 4">
            <a:extLst>
              <a:ext uri="{FF2B5EF4-FFF2-40B4-BE49-F238E27FC236}">
                <a16:creationId xmlns:a16="http://schemas.microsoft.com/office/drawing/2014/main" id="{DD79B944-A26C-F6B2-C553-A1FCD707E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2925" y="2956225"/>
            <a:ext cx="7933066" cy="3901775"/>
          </a:xfrm>
          <a:prstGeom prst="rect">
            <a:avLst/>
          </a:prstGeom>
        </p:spPr>
      </p:pic>
    </p:spTree>
    <p:extLst>
      <p:ext uri="{BB962C8B-B14F-4D97-AF65-F5344CB8AC3E}">
        <p14:creationId xmlns:p14="http://schemas.microsoft.com/office/powerpoint/2010/main" val="359837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E4CE-4C65-2DA5-7949-F9F7293F82AD}"/>
              </a:ext>
            </a:extLst>
          </p:cNvPr>
          <p:cNvSpPr>
            <a:spLocks noGrp="1"/>
          </p:cNvSpPr>
          <p:nvPr>
            <p:ph type="title"/>
          </p:nvPr>
        </p:nvSpPr>
        <p:spPr/>
        <p:txBody>
          <a:bodyPr>
            <a:normAutofit/>
          </a:bodyPr>
          <a:lstStyle/>
          <a:p>
            <a:r>
              <a:rPr lang="en-US"/>
              <a:t>Visual Insights: Current vs. Future Opportunity</a:t>
            </a:r>
            <a:endParaRPr lang="en-IN"/>
          </a:p>
        </p:txBody>
      </p:sp>
      <p:sp>
        <p:nvSpPr>
          <p:cNvPr id="3" name="Text Placeholder 2">
            <a:extLst>
              <a:ext uri="{FF2B5EF4-FFF2-40B4-BE49-F238E27FC236}">
                <a16:creationId xmlns:a16="http://schemas.microsoft.com/office/drawing/2014/main" id="{8F83700C-669C-2CBC-71DE-DF0EAE98E647}"/>
              </a:ext>
            </a:extLst>
          </p:cNvPr>
          <p:cNvSpPr>
            <a:spLocks noGrp="1"/>
          </p:cNvSpPr>
          <p:nvPr>
            <p:ph type="body" idx="1"/>
          </p:nvPr>
        </p:nvSpPr>
        <p:spPr>
          <a:xfrm>
            <a:off x="1069848" y="2093976"/>
            <a:ext cx="10058400" cy="1027037"/>
          </a:xfrm>
        </p:spPr>
        <p:txBody>
          <a:bodyPr>
            <a:normAutofit fontScale="92500" lnSpcReduction="10000"/>
          </a:bodyPr>
          <a:lstStyle/>
          <a:p>
            <a:r>
              <a:rPr lang="en-IN" sz="1600" dirty="0"/>
              <a:t>Format: BCG-style Matrix (Current Population vs. MAI Score).</a:t>
            </a:r>
          </a:p>
          <a:p>
            <a:r>
              <a:rPr lang="en-IN" sz="1600" dirty="0"/>
              <a:t>Executive Value: Separates mature 'Cash Cow' markets from emerging 'Star' markets.</a:t>
            </a:r>
          </a:p>
          <a:p>
            <a:r>
              <a:rPr lang="en-IN" sz="1600" dirty="0"/>
              <a:t>Action: Balances the portfolio between harvesting current revenue and investing in future growth.</a:t>
            </a:r>
          </a:p>
        </p:txBody>
      </p:sp>
      <p:pic>
        <p:nvPicPr>
          <p:cNvPr id="5" name="Picture 4">
            <a:extLst>
              <a:ext uri="{FF2B5EF4-FFF2-40B4-BE49-F238E27FC236}">
                <a16:creationId xmlns:a16="http://schemas.microsoft.com/office/drawing/2014/main" id="{97FB2399-9A51-5464-FEF0-53E49BC60D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2924" y="3221598"/>
            <a:ext cx="7891503" cy="3636402"/>
          </a:xfrm>
          <a:prstGeom prst="rect">
            <a:avLst/>
          </a:prstGeom>
        </p:spPr>
      </p:pic>
    </p:spTree>
    <p:extLst>
      <p:ext uri="{BB962C8B-B14F-4D97-AF65-F5344CB8AC3E}">
        <p14:creationId xmlns:p14="http://schemas.microsoft.com/office/powerpoint/2010/main" val="2713608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EA7D-F7FC-ACB1-D36A-7B38FD5C8A4B}"/>
              </a:ext>
            </a:extLst>
          </p:cNvPr>
          <p:cNvSpPr>
            <a:spLocks noGrp="1"/>
          </p:cNvSpPr>
          <p:nvPr>
            <p:ph type="title"/>
          </p:nvPr>
        </p:nvSpPr>
        <p:spPr/>
        <p:txBody>
          <a:bodyPr>
            <a:normAutofit/>
          </a:bodyPr>
          <a:lstStyle/>
          <a:p>
            <a:r>
              <a:rPr lang="en-US"/>
              <a:t>Strategy: Market Prioritization &amp; Territory Planning</a:t>
            </a:r>
            <a:endParaRPr lang="en-IN"/>
          </a:p>
        </p:txBody>
      </p:sp>
      <p:sp>
        <p:nvSpPr>
          <p:cNvPr id="3" name="Text Placeholder 2">
            <a:extLst>
              <a:ext uri="{FF2B5EF4-FFF2-40B4-BE49-F238E27FC236}">
                <a16:creationId xmlns:a16="http://schemas.microsoft.com/office/drawing/2014/main" id="{F88A63F0-511D-8778-79D2-9E0B3939B234}"/>
              </a:ext>
            </a:extLst>
          </p:cNvPr>
          <p:cNvSpPr>
            <a:spLocks noGrp="1"/>
          </p:cNvSpPr>
          <p:nvPr>
            <p:ph type="body" idx="1"/>
          </p:nvPr>
        </p:nvSpPr>
        <p:spPr/>
        <p:txBody>
          <a:bodyPr/>
          <a:lstStyle/>
          <a:p>
            <a:r>
              <a:rPr lang="en-US"/>
              <a:t>Redefines territories based on data-driven potential rather than geographical convenience.</a:t>
            </a:r>
          </a:p>
          <a:p>
            <a:r>
              <a:rPr lang="en-US"/>
              <a:t>Establishes strict KPIs based on a district's specific MAI baseline.</a:t>
            </a:r>
          </a:p>
          <a:p>
            <a:r>
              <a:rPr lang="en-US"/>
              <a:t>Eliminates bias in sales targets.</a:t>
            </a:r>
            <a:endParaRPr lang="en-IN"/>
          </a:p>
        </p:txBody>
      </p:sp>
    </p:spTree>
    <p:extLst>
      <p:ext uri="{BB962C8B-B14F-4D97-AF65-F5344CB8AC3E}">
        <p14:creationId xmlns:p14="http://schemas.microsoft.com/office/powerpoint/2010/main" val="378585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09E0-3E67-08A2-33D0-524D7386BC74}"/>
              </a:ext>
            </a:extLst>
          </p:cNvPr>
          <p:cNvSpPr>
            <a:spLocks noGrp="1"/>
          </p:cNvSpPr>
          <p:nvPr>
            <p:ph type="title"/>
          </p:nvPr>
        </p:nvSpPr>
        <p:spPr/>
        <p:txBody>
          <a:bodyPr/>
          <a:lstStyle/>
          <a:p>
            <a:r>
              <a:rPr lang="en-IN"/>
              <a:t>Strategy: Sales Force Deployment</a:t>
            </a:r>
          </a:p>
        </p:txBody>
      </p:sp>
      <p:sp>
        <p:nvSpPr>
          <p:cNvPr id="3" name="Text Placeholder 2">
            <a:extLst>
              <a:ext uri="{FF2B5EF4-FFF2-40B4-BE49-F238E27FC236}">
                <a16:creationId xmlns:a16="http://schemas.microsoft.com/office/drawing/2014/main" id="{5E1A0168-0740-CC7A-D9F3-97E93384AB51}"/>
              </a:ext>
            </a:extLst>
          </p:cNvPr>
          <p:cNvSpPr>
            <a:spLocks noGrp="1"/>
          </p:cNvSpPr>
          <p:nvPr>
            <p:ph type="body" idx="1"/>
          </p:nvPr>
        </p:nvSpPr>
        <p:spPr/>
        <p:txBody>
          <a:bodyPr/>
          <a:lstStyle/>
          <a:p>
            <a:r>
              <a:rPr lang="en-US"/>
              <a:t>High Chronic MAI: Deploy Key Account Managers (KAMs) for specialist doctors.</a:t>
            </a:r>
          </a:p>
          <a:p>
            <a:r>
              <a:rPr lang="en-US"/>
              <a:t>High Acute MAI: Deploy mass-market MRs for broad pharmacy coverage.</a:t>
            </a:r>
          </a:p>
          <a:p>
            <a:r>
              <a:rPr lang="en-US"/>
              <a:t>Low MAI / High Pop: Rely on wholesale channel distribution.</a:t>
            </a:r>
            <a:endParaRPr lang="en-IN"/>
          </a:p>
        </p:txBody>
      </p:sp>
    </p:spTree>
    <p:extLst>
      <p:ext uri="{BB962C8B-B14F-4D97-AF65-F5344CB8AC3E}">
        <p14:creationId xmlns:p14="http://schemas.microsoft.com/office/powerpoint/2010/main" val="1678453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EF31-6C8D-46D1-5FE8-216352D3FB49}"/>
              </a:ext>
            </a:extLst>
          </p:cNvPr>
          <p:cNvSpPr>
            <a:spLocks noGrp="1"/>
          </p:cNvSpPr>
          <p:nvPr>
            <p:ph type="title"/>
          </p:nvPr>
        </p:nvSpPr>
        <p:spPr/>
        <p:txBody>
          <a:bodyPr/>
          <a:lstStyle/>
          <a:p>
            <a:r>
              <a:rPr lang="en-IN"/>
              <a:t>Replicability &amp; Scalability</a:t>
            </a:r>
          </a:p>
        </p:txBody>
      </p:sp>
      <p:sp>
        <p:nvSpPr>
          <p:cNvPr id="3" name="Text Placeholder 2">
            <a:extLst>
              <a:ext uri="{FF2B5EF4-FFF2-40B4-BE49-F238E27FC236}">
                <a16:creationId xmlns:a16="http://schemas.microsoft.com/office/drawing/2014/main" id="{526F9113-155F-3A50-6E93-CB4C1C9796C4}"/>
              </a:ext>
            </a:extLst>
          </p:cNvPr>
          <p:cNvSpPr>
            <a:spLocks noGrp="1"/>
          </p:cNvSpPr>
          <p:nvPr>
            <p:ph type="body" idx="1"/>
          </p:nvPr>
        </p:nvSpPr>
        <p:spPr/>
        <p:txBody>
          <a:bodyPr/>
          <a:lstStyle/>
          <a:p>
            <a:r>
              <a:rPr lang="en-IN"/>
              <a:t>Cross-Therapy: Variables can be swapped (e.g., UV exposure for Dermatology).</a:t>
            </a:r>
          </a:p>
          <a:p>
            <a:r>
              <a:rPr lang="en-IN"/>
              <a:t>Cross-Geography: Python/Power Query architecture applies to any global market data.</a:t>
            </a:r>
          </a:p>
          <a:p>
            <a:r>
              <a:rPr lang="en-IN"/>
              <a:t>Dynamic Weighting: The algorithm adapts automatically to new data inputs.</a:t>
            </a:r>
          </a:p>
        </p:txBody>
      </p:sp>
    </p:spTree>
    <p:extLst>
      <p:ext uri="{BB962C8B-B14F-4D97-AF65-F5344CB8AC3E}">
        <p14:creationId xmlns:p14="http://schemas.microsoft.com/office/powerpoint/2010/main" val="2922303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0098-F1AC-292B-D95E-D3B0A70C2A45}"/>
              </a:ext>
            </a:extLst>
          </p:cNvPr>
          <p:cNvSpPr>
            <a:spLocks noGrp="1"/>
          </p:cNvSpPr>
          <p:nvPr>
            <p:ph type="title"/>
          </p:nvPr>
        </p:nvSpPr>
        <p:spPr/>
        <p:txBody>
          <a:bodyPr/>
          <a:lstStyle/>
          <a:p>
            <a:r>
              <a:rPr lang="en-IN"/>
              <a:t>Conclusion &amp; Next Steps</a:t>
            </a:r>
          </a:p>
        </p:txBody>
      </p:sp>
      <p:sp>
        <p:nvSpPr>
          <p:cNvPr id="3" name="Text Placeholder 2">
            <a:extLst>
              <a:ext uri="{FF2B5EF4-FFF2-40B4-BE49-F238E27FC236}">
                <a16:creationId xmlns:a16="http://schemas.microsoft.com/office/drawing/2014/main" id="{E58DE750-C98E-43D0-B784-7107EC667B95}"/>
              </a:ext>
            </a:extLst>
          </p:cNvPr>
          <p:cNvSpPr>
            <a:spLocks noGrp="1"/>
          </p:cNvSpPr>
          <p:nvPr>
            <p:ph type="body" idx="1"/>
          </p:nvPr>
        </p:nvSpPr>
        <p:spPr/>
        <p:txBody>
          <a:bodyPr/>
          <a:lstStyle/>
          <a:p>
            <a:r>
              <a:rPr lang="en-US"/>
              <a:t>The MAI transitions Sun Pharma from historical reporting to predictive strategy.</a:t>
            </a:r>
          </a:p>
          <a:p>
            <a:r>
              <a:rPr lang="en-US"/>
              <a:t>Immediate Next Step: Integrate final Power BI dashboard with CRM deployment systems.</a:t>
            </a:r>
          </a:p>
          <a:p>
            <a:r>
              <a:rPr lang="en-US"/>
              <a:t>Long-Term Vision: Continuous ML training to refine predictive accuracy year-over-year.</a:t>
            </a:r>
            <a:endParaRPr lang="en-IN"/>
          </a:p>
        </p:txBody>
      </p:sp>
    </p:spTree>
    <p:extLst>
      <p:ext uri="{BB962C8B-B14F-4D97-AF65-F5344CB8AC3E}">
        <p14:creationId xmlns:p14="http://schemas.microsoft.com/office/powerpoint/2010/main" val="379715364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TM02892315[[fn=Wisp]]</Template>
  <TotalTime>39</TotalTime>
  <Words>1966</Words>
  <Application>Microsoft Office PowerPoint</Application>
  <PresentationFormat>Widescreen</PresentationFormat>
  <Paragraphs>144</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Century Gothic</vt:lpstr>
      <vt:lpstr>Wingdings 3</vt:lpstr>
      <vt:lpstr>Wisp</vt:lpstr>
      <vt:lpstr>District-Level Market Attractiveness Index (MAI)</vt:lpstr>
      <vt:lpstr>Executive Summary</vt:lpstr>
      <vt:lpstr>Business Objectives &amp; Strategic Imperatives</vt:lpstr>
      <vt:lpstr>Market Attractiveness Index (MAI) – Core Definition</vt:lpstr>
      <vt:lpstr>1. Overall Pharmaceutical MAI</vt:lpstr>
      <vt:lpstr>2. Chronic Therapy MAI</vt:lpstr>
      <vt:lpstr>3. Acute Therapy MAI</vt:lpstr>
      <vt:lpstr>Variable Selection: Economic Indicators</vt:lpstr>
      <vt:lpstr>Variable Selection: Infrastructure Readiness</vt:lpstr>
      <vt:lpstr>Variable Selection: Epidemiological Data</vt:lpstr>
      <vt:lpstr>Contrasting Drivers: Acute vs. Chronic</vt:lpstr>
      <vt:lpstr>Methodology: Data Pipeline &amp; Preparation</vt:lpstr>
      <vt:lpstr>Methodology: Handling Missing Data</vt:lpstr>
      <vt:lpstr>Methodology: Normalization Strategy</vt:lpstr>
      <vt:lpstr>Methodology: Index Construction (PCA)</vt:lpstr>
      <vt:lpstr>Methodology: Future Demand Modeling</vt:lpstr>
      <vt:lpstr>Visual Insights: District Rankings</vt:lpstr>
      <vt:lpstr>Visual Insights: Geographic Concentration</vt:lpstr>
      <vt:lpstr>Visual Insights: The Therapy Matrix</vt:lpstr>
      <vt:lpstr>Visual Insights: Current vs. Future Opportunity</vt:lpstr>
      <vt:lpstr>Strategy: Market Prioritization &amp; Territory Planning</vt:lpstr>
      <vt:lpstr>Strategy: Sales Force Deployment</vt:lpstr>
      <vt:lpstr>Replicability &amp; Scalability</vt:lpstr>
      <vt:lpstr>Conclusion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Anurag Saini</dc:creator>
  <cp:lastModifiedBy>Anurag Saini</cp:lastModifiedBy>
  <cp:revision>7</cp:revision>
  <dcterms:created xsi:type="dcterms:W3CDTF">2026-07-19T11:28:22Z</dcterms:created>
  <dcterms:modified xsi:type="dcterms:W3CDTF">2026-07-19T16:24:55Z</dcterms:modified>
</cp:coreProperties>
</file>